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</p:sldIdLst>
  <p:notesMasterIdLst>
    <p:notesMasterId r:id="rId52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" id="{3d05d7fd-d2a1-c3ad-d010-be780ae700b3}">
          <p14:sldIdLst>
            <p14:sldId id="256"/>
          </p14:sldIdLst>
        </p14:section>
        <p14:section name="Topic 1: Decision Support Systems (DSS)" id="{365abe96-90ba-6d90-ecb9-42fff1bbd94e}">
          <p14:sldIdLst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Topic 2: Operational Systems vs DSS" id="{8ef9790d-552a-8eb8-668a-014029152389}">
          <p14:sldIdLst>
            <p14:sldId id="264"/>
            <p14:sldId id="265"/>
            <p14:sldId id="266"/>
            <p14:sldId id="267"/>
            <p14:sldId id="268"/>
            <p14:sldId id="269"/>
            <p14:sldId id="270"/>
          </p14:sldIdLst>
        </p14:section>
        <p14:section name="Topic 3: Architecture of a Data Warehouse" id="{a38254ca-d4e7-0d32-00b1-832ea6ee2258}">
          <p14:sldIdLst>
            <p14:sldId id="271"/>
            <p14:sldId id="272"/>
            <p14:sldId id="273"/>
            <p14:sldId id="274"/>
            <p14:sldId id="275"/>
            <p14:sldId id="276"/>
            <p14:sldId id="277"/>
          </p14:sldIdLst>
        </p14:section>
        <p14:section name="Topic 4: OLAP and Data Cubes" id="{ffedd743-9f02-c4ec-9111-a8ca0710d6c6}">
          <p14:sldIdLst>
            <p14:sldId id="278"/>
            <p14:sldId id="279"/>
            <p14:sldId id="280"/>
            <p14:sldId id="281"/>
            <p14:sldId id="282"/>
            <p14:sldId id="283"/>
            <p14:sldId id="284"/>
          </p14:sldIdLst>
        </p14:section>
        <p14:section name="Topic 5: Dimensional Data Modeling" id="{273c2619-74fa-0b51-1525-7a225302ede0}">
          <p14:sldIdLst>
            <p14:sldId id="285"/>
            <p14:sldId id="286"/>
            <p14:sldId id="287"/>
            <p14:sldId id="288"/>
            <p14:sldId id="289"/>
            <p14:sldId id="290"/>
            <p14:sldId id="291"/>
          </p14:sldIdLst>
        </p14:section>
        <p14:section name="Topic 6: Query Processing &amp; BI Tools" id="{6a228893-aec0-ec5d-8a97-33550703a922}">
          <p14:sldIdLst>
            <p14:sldId id="292"/>
            <p14:sldId id="293"/>
            <p14:sldId id="294"/>
            <p14:sldId id="295"/>
            <p14:sldId id="296"/>
            <p14:sldId id="297"/>
            <p14:sldId id="298"/>
          </p14:sldIdLst>
        </p14:section>
        <p14:section name="Topic 7: OLAP Application using KNIME" id="{03339efe-0395-ec26-66a6-b0500ca0fc74}">
          <p14:sldIdLst>
            <p14:sldId id="299"/>
            <p14:sldId id="300"/>
            <p14:sldId id="301"/>
            <p14:sldId id="302"/>
            <p14:sldId id="303"/>
            <p14:sldId id="304"/>
            <p14:sldId id="30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notesMaster" Target="notesMasters/notesMaster1.xml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182880"/>
            <a:ext cx="822960" cy="886968"/>
          </a:xfrm>
          <a:prstGeom prst="rect">
            <a:avLst/>
          </a:prstGeom>
        </p:spPr>
      </p:pic>
      <p:pic>
        <p:nvPicPr>
          <p:cNvPr id="3" name="Image 1" descr="logo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320040"/>
            <a:ext cx="914400" cy="813816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2" type="title" hasCustomPrompt="1"/>
          </p:nvPr>
        </p:nvSpPr>
        <p:spPr>
          <a:xfrm>
            <a:off x="1097280" y="274320"/>
            <a:ext cx="658368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ctr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8C8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011680"/>
            <a:ext cx="9144000" cy="2651760"/>
          </a:xfrm>
          <a:prstGeom prst="rect">
            <a:avLst/>
          </a:prstGeom>
          <a:solidFill>
            <a:schemeClr val="bg2"/>
          </a:solidFill>
          <a:ln/>
        </p:spPr>
      </p:sp>
      <p:pic>
        <p:nvPicPr>
          <p:cNvPr id="3" name="Image 0" descr="logo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182880"/>
            <a:ext cx="822960" cy="886968"/>
          </a:xfrm>
          <a:prstGeom prst="rect">
            <a:avLst/>
          </a:prstGeom>
        </p:spPr>
      </p:pic>
      <p:pic>
        <p:nvPicPr>
          <p:cNvPr id="4" name="Image 1" descr="logo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320040"/>
            <a:ext cx="914400" cy="81381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8C8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ann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274320"/>
            <a:ext cx="8595360" cy="14630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274320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Data Warehousing and Decision Support Systems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914400" y="402336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Seven Topics: DSS, OLTP vs OLAP, Data Warehouse, OLAP Cubes, Dimensional Modeling, Query Processing and BI, KNIME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21945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5"/>
                </a:solidFill>
              </a:rPr>
              <a:t>Topic 1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292608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3800" b="1" dirty="0">
                <a:solidFill>
                  <a:schemeClr val="accent1"/>
                </a:solidFill>
              </a:rPr>
              <a:t>Decision Support Systems (DSS)</a:t>
            </a:r>
            <a:endParaRPr lang="en-US" sz="3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1097280" y="274320"/>
            <a:ext cx="6583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Introduction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896112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Decision Support Systems (DSS)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229600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554480"/>
            <a:ext cx="80467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Definition: an interactive, computer-based system that helps managers use data and models to solve semi-structured and unstructured problems</a:t>
            </a:r>
            <a:endParaRPr lang="en-US" sz="2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Need: data overload, complex and fast-changing business conditions, demand for evidence-based decisions</a:t>
            </a:r>
            <a:endParaRPr lang="en-US" sz="2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Importance: faster, more consistent and better-informed decisions</a:t>
            </a:r>
            <a:endParaRPr lang="en-US" sz="2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A DSS supports the decision maker; it does not replace human judgement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8C8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1097280" y="274320"/>
            <a:ext cx="6583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Core Concepts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896112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Decision Support Systems (DSS)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229600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554480"/>
            <a:ext cx="37490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Data component: internal, external and warehouse data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Model component: statistical, optimization and what-if models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UI component: dashboards, queries, reports for the user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Types: data-driven, model-driven, knowledge-driven, document-driven, communication-driven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572000" y="1645920"/>
            <a:ext cx="4206240" cy="822960"/>
          </a:xfrm>
          <a:prstGeom prst="roundRect">
            <a:avLst>
              <a:gd name="adj" fmla="val 888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0" y="1645920"/>
            <a:ext cx="420624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Decision Maker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675120" y="2496312"/>
            <a:ext cx="0" cy="310896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572000" y="2834640"/>
            <a:ext cx="4206240" cy="822960"/>
          </a:xfrm>
          <a:prstGeom prst="roundRect">
            <a:avLst>
              <a:gd name="adj" fmla="val 8889"/>
            </a:avLst>
          </a:prstGeom>
          <a:solidFill>
            <a:schemeClr val="accent5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0" y="2834640"/>
            <a:ext cx="420624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User Interface (UI)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675120" y="3685032"/>
            <a:ext cx="0" cy="310896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572000" y="4023360"/>
            <a:ext cx="4206240" cy="822960"/>
          </a:xfrm>
          <a:prstGeom prst="roundRect">
            <a:avLst>
              <a:gd name="adj" fmla="val 888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0" y="4023360"/>
            <a:ext cx="420624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Model Management (Model Base)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675120" y="4873752"/>
            <a:ext cx="0" cy="310896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572000" y="5212080"/>
            <a:ext cx="4206240" cy="822960"/>
          </a:xfrm>
          <a:prstGeom prst="roundRect">
            <a:avLst>
              <a:gd name="adj" fmla="val 8889"/>
            </a:avLst>
          </a:prstGeom>
          <a:solidFill>
            <a:schemeClr val="accent5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0" y="5212080"/>
            <a:ext cx="420624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Data Management (Database / DW)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8C8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1097280" y="274320"/>
            <a:ext cx="6583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Process / Architecture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896112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How a DSS Supports a Decision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229600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459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600200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accent1"/>
                </a:solidFill>
              </a:rPr>
              <a:t>Define the problem</a:t>
            </a:r>
            <a:endParaRPr lang="en-US" sz="2100" dirty="0"/>
          </a:p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Decision maker states the goal and constraints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914400" y="2240280"/>
            <a:ext cx="0" cy="292608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40080" y="25603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560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2514600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accent1"/>
                </a:solidFill>
              </a:rPr>
              <a:t>Collect data</a:t>
            </a:r>
            <a:endParaRPr lang="en-US" sz="2100" dirty="0"/>
          </a:p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Pull relevant data from databases and the warehouse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914400" y="3154680"/>
            <a:ext cx="0" cy="292608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40080" y="34747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3474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463040" y="3429000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accent1"/>
                </a:solidFill>
              </a:rPr>
              <a:t>Select a model</a:t>
            </a:r>
            <a:endParaRPr lang="en-US" sz="2100" dirty="0"/>
          </a:p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Forecast, optimization or simulation model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914400" y="4069080"/>
            <a:ext cx="0" cy="292608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40080" y="43891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" y="4389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1463040" y="4343400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accent1"/>
                </a:solidFill>
              </a:rPr>
              <a:t>Run what-if analysis</a:t>
            </a:r>
            <a:endParaRPr lang="en-US" sz="2100" dirty="0"/>
          </a:p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Test alternatives and scenarios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914400" y="4983480"/>
            <a:ext cx="0" cy="292608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40080" y="53035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0080" y="5303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5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1463040" y="5257800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accent1"/>
                </a:solidFill>
              </a:rPr>
              <a:t>Present and decide</a:t>
            </a:r>
            <a:endParaRPr lang="en-US" sz="2100" dirty="0"/>
          </a:p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Results shown on dashboards; manager decides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8C8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1097280" y="274320"/>
            <a:ext cx="6583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Real-World Example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896112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Real-World Applications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229600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554480"/>
            <a:ext cx="80467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Banking: credit scoring and loan approval, fraud detection, portfolio risk analysis</a:t>
            </a:r>
            <a:endParaRPr lang="en-US" sz="2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Healthcare: clinical DSS for diagnosis support, drug-interaction alerts, treatment planning</a:t>
            </a:r>
            <a:endParaRPr lang="en-US" sz="2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Hospitals also use DSS for bed allocation and resource planning</a:t>
            </a:r>
            <a:endParaRPr lang="en-US" sz="2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Banks combine customer history + scoring models to recommend approve / reject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8C8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1097280" y="274320"/>
            <a:ext cx="6583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Tool / Demo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896112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Tools Used to Build a DSS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229600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554480"/>
            <a:ext cx="37947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Spreadsheets with Solver / what-if tables</a:t>
            </a:r>
            <a:endParaRPr lang="en-US" sz="18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BI platforms: Power BI, Tableau, Apache Superset</a:t>
            </a:r>
            <a:endParaRPr lang="en-US" sz="18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Analytics workflows: KNIME, Python, R</a:t>
            </a:r>
            <a:endParaRPr lang="en-US" sz="18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Database / data warehouse as the data layer</a:t>
            </a:r>
            <a:endParaRPr lang="en-US" sz="1800" dirty="0"/>
          </a:p>
        </p:txBody>
      </p:sp>
      <p:pic>
        <p:nvPicPr>
          <p:cNvPr id="6" name="tool screenshot" descr="dss_das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26280" y="1645920"/>
            <a:ext cx="4206240" cy="299008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26280" y="47091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Illustration: DSS dashboard in the style of Power BI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8C8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1097280" y="274320"/>
            <a:ext cx="6583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Conclusion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896112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Summary and Future Scope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229600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5544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Summary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965960"/>
            <a:ext cx="8046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Advantages: faster decisions, better accuracy, scenario testing, consistent analysis</a:t>
            </a:r>
            <a:endParaRPr lang="en-US" sz="20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Limitations: costly to build, depends on data quality, needs user training, cannot capture every human factor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297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Future Scope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70916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AI/ML-powered and real-time DSS</a:t>
            </a:r>
            <a:endParaRPr lang="en-US" sz="20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Cloud-based and mobile DSS; natural-language interfaces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8C8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21945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5"/>
                </a:solidFill>
              </a:rPr>
              <a:t>Topic 2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292608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3800" b="1" dirty="0">
                <a:solidFill>
                  <a:schemeClr val="accent1"/>
                </a:solidFill>
              </a:rPr>
              <a:t>Operational Systems vs DSS</a:t>
            </a:r>
            <a:endParaRPr lang="en-US" sz="3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1097280" y="274320"/>
            <a:ext cx="6583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Introduction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896112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Operational Systems vs DSS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229600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554480"/>
            <a:ext cx="80467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Operational systems (OLTP) record day-to-day business transactions: orders, payments, bookings</a:t>
            </a:r>
            <a:endParaRPr lang="en-US" sz="2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DSS / data warehouse systems (OLAP) analyse historical data to support decisions</a:t>
            </a:r>
            <a:endParaRPr lang="en-US" sz="2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The two have different goals, so they are kept on separate systems</a:t>
            </a:r>
            <a:endParaRPr lang="en-US" sz="2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Understanding the difference guides correct system design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8C8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1097280" y="274320"/>
            <a:ext cx="6583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Core Concepts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896112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Operational Systems vs DSS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229600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554480"/>
            <a:ext cx="8046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OLTP: many short read/write transactions, current data</a:t>
            </a:r>
            <a:endParaRPr lang="en-US" sz="19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OLAP: fewer, complex, read-heavy queries over history</a:t>
            </a:r>
            <a:endParaRPr lang="en-US" sz="19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01752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Aspect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OLTP (Operational)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OLAP / DSS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Data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Current, detailed, normalized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Historical, summarized, denormalized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Users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Clerks, cashiers, customers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Managers, analysts, executives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Purpose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Run the business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Analyse and plan the business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Operations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Insert / update / delete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Complex reads, aggregation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Size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MBs to GBs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GBs to TBs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8C8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1097280" y="274320"/>
            <a:ext cx="6583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Process / Architecture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896112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Integration Between the Systems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229600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459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600200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accent1"/>
                </a:solidFill>
              </a:rPr>
              <a:t>Operational sources</a:t>
            </a:r>
            <a:endParaRPr lang="en-US" sz="2100" dirty="0"/>
          </a:p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OLTP databases, files, external feeds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914400" y="2240280"/>
            <a:ext cx="0" cy="292608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40080" y="25603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560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2514600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accent1"/>
                </a:solidFill>
              </a:rPr>
              <a:t>Extract</a:t>
            </a:r>
            <a:endParaRPr lang="en-US" sz="2100" dirty="0"/>
          </a:p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Copy changed data on a schedule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914400" y="3154680"/>
            <a:ext cx="0" cy="292608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40080" y="34747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3474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463040" y="3429000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accent1"/>
                </a:solidFill>
              </a:rPr>
              <a:t>Transform</a:t>
            </a:r>
            <a:endParaRPr lang="en-US" sz="2100" dirty="0"/>
          </a:p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Clean, standardize and integrate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914400" y="4069080"/>
            <a:ext cx="0" cy="292608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40080" y="43891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" y="4389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1463040" y="4343400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accent1"/>
                </a:solidFill>
              </a:rPr>
              <a:t>Load into warehouse</a:t>
            </a:r>
            <a:endParaRPr lang="en-US" sz="2100" dirty="0"/>
          </a:p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Store historical data in the DW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914400" y="4983480"/>
            <a:ext cx="0" cy="292608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40080" y="53035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0080" y="5303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5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1463040" y="5257800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accent1"/>
                </a:solidFill>
              </a:rPr>
              <a:t>Analyse</a:t>
            </a:r>
            <a:endParaRPr lang="en-US" sz="2100" dirty="0"/>
          </a:p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OLAP and BI tools read from the warehouse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8C8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1097280" y="274320"/>
            <a:ext cx="6583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Real-World Example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896112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Use-Case Scenarios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229600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554480"/>
            <a:ext cx="80467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Bank: ATM withdrawal and balance update (OLTP)</a:t>
            </a:r>
            <a:endParaRPr lang="en-US" sz="2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Bank: analysing monthly spending by branch and region (OLAP)</a:t>
            </a:r>
            <a:endParaRPr lang="en-US" sz="2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Retail: POS billing each sale (OLTP) vs seasonal sales trend analysis (OLAP)</a:t>
            </a:r>
            <a:endParaRPr lang="en-US" sz="2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Separating the systems keeps analytics from slowing down transactions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8C8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1097280" y="274320"/>
            <a:ext cx="6583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Tool / Demo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896112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Performance Comparison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229600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554480"/>
            <a:ext cx="80467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OLTP: millisecond response, thousands of concurrent users, indexes tuned for writes</a:t>
            </a:r>
            <a:endParaRPr lang="en-US" sz="2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OLAP: seconds to minutes per query, few users, scans large volumes</a:t>
            </a:r>
            <a:endParaRPr lang="en-US" sz="2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OLTP measure: transactions per second</a:t>
            </a:r>
            <a:endParaRPr lang="en-US" sz="2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OLAP measure: query response time and throughput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8C8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1097280" y="274320"/>
            <a:ext cx="6583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Conclusion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896112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Summary and Future Scope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229600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5544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Summary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965960"/>
            <a:ext cx="8046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OLTP runs the business; OLAP guides it</a:t>
            </a:r>
            <a:endParaRPr lang="en-US" sz="20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Operational data feeds the warehouse through ETL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297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Future Scope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70916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Real-time / HTAP systems blending both</a:t>
            </a:r>
            <a:endParaRPr lang="en-US" sz="20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Cloud warehouses with streaming ingestion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8C8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21945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5"/>
                </a:solidFill>
              </a:rPr>
              <a:t>Topic 3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292608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3800" b="1" dirty="0">
                <a:solidFill>
                  <a:schemeClr val="accent1"/>
                </a:solidFill>
              </a:rPr>
              <a:t>Architecture of a Data Warehouse</a:t>
            </a:r>
            <a:endParaRPr lang="en-US" sz="3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1097280" y="274320"/>
            <a:ext cx="6583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Introduction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896112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Architecture of a Data Warehouse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229600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554480"/>
            <a:ext cx="80467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Data warehouse: a subject-oriented, integrated, time-variant, non-volatile collection of data for decision making (Inmon)</a:t>
            </a:r>
            <a:endParaRPr lang="en-US" sz="2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Stores consolidated history from many source systems</a:t>
            </a:r>
            <a:endParaRPr lang="en-US" sz="2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Provides a single version of the truth</a:t>
            </a:r>
            <a:endParaRPr lang="en-US" sz="2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Foundation for OLAP, reporting and data mining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8C8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1097280" y="274320"/>
            <a:ext cx="6583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Core Concepts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896112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Architecture of a Data Warehouse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229600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554480"/>
            <a:ext cx="37490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Bottom tier: warehouse database + ETL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Middle tier: OLAP server (ROLAP / MOLAP)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Top tier: query, reporting and analysis tools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Data marts: subject-specific subsets (e.g., sales); metadata: data about data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572000" y="1645920"/>
            <a:ext cx="4206240" cy="822960"/>
          </a:xfrm>
          <a:prstGeom prst="roundRect">
            <a:avLst>
              <a:gd name="adj" fmla="val 888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0" y="1645920"/>
            <a:ext cx="420624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Top: Front-end tools (BI, reports)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675120" y="2496312"/>
            <a:ext cx="0" cy="310896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572000" y="2834640"/>
            <a:ext cx="4206240" cy="822960"/>
          </a:xfrm>
          <a:prstGeom prst="roundRect">
            <a:avLst>
              <a:gd name="adj" fmla="val 8889"/>
            </a:avLst>
          </a:prstGeom>
          <a:solidFill>
            <a:schemeClr val="accent5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0" y="2834640"/>
            <a:ext cx="420624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Middle: OLAP Server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675120" y="3685032"/>
            <a:ext cx="0" cy="310896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572000" y="4023360"/>
            <a:ext cx="4206240" cy="822960"/>
          </a:xfrm>
          <a:prstGeom prst="roundRect">
            <a:avLst>
              <a:gd name="adj" fmla="val 888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0" y="4023360"/>
            <a:ext cx="420624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Bottom: Data Warehouse + Data Marts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675120" y="4873752"/>
            <a:ext cx="0" cy="310896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572000" y="5212080"/>
            <a:ext cx="4206240" cy="822960"/>
          </a:xfrm>
          <a:prstGeom prst="roundRect">
            <a:avLst>
              <a:gd name="adj" fmla="val 8889"/>
            </a:avLst>
          </a:prstGeom>
          <a:solidFill>
            <a:schemeClr val="accent5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0" y="5212080"/>
            <a:ext cx="420624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Sources: ERP, CRM, files + ETL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8C8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1097280" y="274320"/>
            <a:ext cx="6583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Process / Architecture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896112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The ETL Process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229600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459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600200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accent1"/>
                </a:solidFill>
              </a:rPr>
              <a:t>Extract</a:t>
            </a:r>
            <a:endParaRPr lang="en-US" sz="2100" dirty="0"/>
          </a:p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Read data from source systems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914400" y="2240280"/>
            <a:ext cx="0" cy="292608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40080" y="25603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560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2514600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accent1"/>
                </a:solidFill>
              </a:rPr>
              <a:t>Clean</a:t>
            </a:r>
            <a:endParaRPr lang="en-US" sz="2100" dirty="0"/>
          </a:p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Remove duplicates, fix errors and nulls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914400" y="3154680"/>
            <a:ext cx="0" cy="292608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40080" y="34747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3474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463040" y="3429000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accent1"/>
                </a:solidFill>
              </a:rPr>
              <a:t>Transform</a:t>
            </a:r>
            <a:endParaRPr lang="en-US" sz="2100" dirty="0"/>
          </a:p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Convert formats, apply business rules, aggregate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914400" y="4069080"/>
            <a:ext cx="0" cy="292608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40080" y="43891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" y="4389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1463040" y="4343400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accent1"/>
                </a:solidFill>
              </a:rPr>
              <a:t>Load</a:t>
            </a:r>
            <a:endParaRPr lang="en-US" sz="2100" dirty="0"/>
          </a:p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Write to the warehouse (full or incremental)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914400" y="4983480"/>
            <a:ext cx="0" cy="292608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40080" y="53035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0080" y="5303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5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1463040" y="5257800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accent1"/>
                </a:solidFill>
              </a:rPr>
              <a:t>Refresh and log</a:t>
            </a:r>
            <a:endParaRPr lang="en-US" sz="2100" dirty="0"/>
          </a:p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Schedule loads; record lineage in metadata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8C8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1097280" y="274320"/>
            <a:ext cx="6583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Real-World Example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896112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Case Study: Retail Chain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229600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554480"/>
            <a:ext cx="80467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Stores, e-commerce and suppliers feed separate databases</a:t>
            </a:r>
            <a:endParaRPr lang="en-US" sz="2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ETL consolidates them nightly into one warehouse</a:t>
            </a:r>
            <a:endParaRPr lang="en-US" sz="2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Data marts for sales, inventory and marketing</a:t>
            </a:r>
            <a:endParaRPr lang="en-US" sz="2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Result: unified reports on product performance and stock planning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8C8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1097280" y="274320"/>
            <a:ext cx="6583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Tool / Demo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896112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Warehouse and ETL Tools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229600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554480"/>
            <a:ext cx="37947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ETL: Talend, Pentaho Data Integration, Apache Hop, KNIME</a:t>
            </a:r>
            <a:endParaRPr lang="en-US" sz="18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Warehouses: PostgreSQL, Snowflake, Amazon Redshift, Google BigQuery</a:t>
            </a:r>
            <a:endParaRPr lang="en-US" sz="18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Metadata catalogs document tables, columns and lineage</a:t>
            </a:r>
            <a:endParaRPr lang="en-US" sz="18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Scheduling: Apache Airflow, cron</a:t>
            </a:r>
            <a:endParaRPr lang="en-US" sz="1800" dirty="0"/>
          </a:p>
        </p:txBody>
      </p:sp>
      <p:pic>
        <p:nvPicPr>
          <p:cNvPr id="6" name="tool screenshot" descr="et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26280" y="1645920"/>
            <a:ext cx="4206240" cy="299008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26280" y="47091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Illustration: ETL workflow in the style of KNIME / Pentaho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8C8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1097280" y="274320"/>
            <a:ext cx="6583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Conclusion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896112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Summary and Future Scope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229600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5544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Summary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965960"/>
            <a:ext cx="8046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Benefits: consistent data, fast analysis, historical view, better decisions</a:t>
            </a:r>
            <a:endParaRPr lang="en-US" sz="20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Three tiers separate storage, processing and presentation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297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Future Scope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70916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Cloud and lakehouse architectures</a:t>
            </a:r>
            <a:endParaRPr lang="en-US" sz="20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Real-time ETL / ELT and automated data quality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8C8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21945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5"/>
                </a:solidFill>
              </a:rPr>
              <a:t>Topic 4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292608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3800" b="1" dirty="0">
                <a:solidFill>
                  <a:schemeClr val="accent1"/>
                </a:solidFill>
              </a:rPr>
              <a:t>OLAP and Data Cubes</a:t>
            </a:r>
            <a:endParaRPr lang="en-US" sz="3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1097280" y="274320"/>
            <a:ext cx="6583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Introduction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896112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OLAP and Data Cubes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229600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554480"/>
            <a:ext cx="80467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OLAP (Online Analytical Processing): fast, interactive multidimensional analysis of data</a:t>
            </a:r>
            <a:endParaRPr lang="en-US" sz="2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Lets users view measures (sales) by dimensions (time, product, region)</a:t>
            </a:r>
            <a:endParaRPr lang="en-US" sz="2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Importance: quick answers to business questions without writing complex queries</a:t>
            </a:r>
            <a:endParaRPr lang="en-US" sz="2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Typical users: analysts and managers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8C8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1097280" y="274320"/>
            <a:ext cx="6583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Core Concepts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896112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OLAP and Data Cubes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229600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554480"/>
            <a:ext cx="8046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Data cube: measures (facts) arranged along dimensions</a:t>
            </a:r>
            <a:endParaRPr lang="en-US" sz="19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Example cube: Sales by Product x Time x Location</a:t>
            </a:r>
            <a:endParaRPr lang="en-US" sz="19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Each dimension has concept hierarchies (day &gt; month &gt; quarter &gt; year)</a:t>
            </a:r>
            <a:endParaRPr lang="en-US" sz="19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01752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Operation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Meaning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Example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Roll-up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Aggregate to a higher level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Quarter to Year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Drill-down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Move to finer detail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Year to Month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Slice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Fix one dimension value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Year = 2025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Dice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Select a sub-cube on several dimensions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2025, East, Laptops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Pivot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Rotate the view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Swap rows and columns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8C8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1097280" y="274320"/>
            <a:ext cx="6583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Process / Architecture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896112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Applying OLAP Operations Step by Step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229600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459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600200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accent1"/>
                </a:solidFill>
              </a:rPr>
              <a:t>Start with the cube</a:t>
            </a:r>
            <a:endParaRPr lang="en-US" sz="2100" dirty="0"/>
          </a:p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Sales (Product, Time, Location)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914400" y="2240280"/>
            <a:ext cx="0" cy="292608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40080" y="25603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560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2514600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accent1"/>
                </a:solidFill>
              </a:rPr>
              <a:t>Roll-up</a:t>
            </a:r>
            <a:endParaRPr lang="en-US" sz="2100" dirty="0"/>
          </a:p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Sum monthly sales to quarterly totals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914400" y="3154680"/>
            <a:ext cx="0" cy="292608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40080" y="34747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3474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463040" y="3429000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accent1"/>
                </a:solidFill>
              </a:rPr>
              <a:t>Drill-down</a:t>
            </a:r>
            <a:endParaRPr lang="en-US" sz="2100" dirty="0"/>
          </a:p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Open a weak quarter to see months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914400" y="4069080"/>
            <a:ext cx="0" cy="292608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40080" y="43891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" y="4389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1463040" y="4343400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accent1"/>
                </a:solidFill>
              </a:rPr>
              <a:t>Slice and dice</a:t>
            </a:r>
            <a:endParaRPr lang="en-US" sz="2100" dirty="0"/>
          </a:p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Filter to one year, region and product group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914400" y="4983480"/>
            <a:ext cx="0" cy="292608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40080" y="53035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0080" y="5303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5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1463040" y="5257800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accent1"/>
                </a:solidFill>
              </a:rPr>
              <a:t>Pivot</a:t>
            </a:r>
            <a:endParaRPr lang="en-US" sz="2100" dirty="0"/>
          </a:p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Rotate to compare regions by product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8C8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1097280" y="274320"/>
            <a:ext cx="6583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Real-World Example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896112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Applications in Analytics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229600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554480"/>
            <a:ext cx="80467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Retail: sales trend and product-mix analysis</a:t>
            </a:r>
            <a:endParaRPr lang="en-US" sz="2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Banking: profitability by branch, product and period</a:t>
            </a:r>
            <a:endParaRPr lang="en-US" sz="2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Healthcare: admissions by department and season</a:t>
            </a:r>
            <a:endParaRPr lang="en-US" sz="2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Budgeting, forecasting and KPI tracking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8C8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1097280" y="274320"/>
            <a:ext cx="6583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Tool / Demo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896112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OLAP Tools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229600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554480"/>
            <a:ext cx="37947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Types: ROLAP, MOLAP, HOLAP</a:t>
            </a:r>
            <a:endParaRPr lang="en-US" sz="18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Microsoft SSAS, Apache Kylin, Mondrian (Pentaho)</a:t>
            </a:r>
            <a:endParaRPr lang="en-US" sz="18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Excel PivotTables for simple cube-style analysis</a:t>
            </a:r>
            <a:endParaRPr lang="en-US" sz="18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KNIME workflows can mimic OLAP operations</a:t>
            </a:r>
            <a:endParaRPr lang="en-US" sz="1800" dirty="0"/>
          </a:p>
        </p:txBody>
      </p:sp>
      <p:pic>
        <p:nvPicPr>
          <p:cNvPr id="6" name="tool screenshot" descr="piv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26280" y="1645920"/>
            <a:ext cx="4206240" cy="299008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26280" y="47091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Illustration: Excel PivotTable showing roll-up and slice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8C8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1097280" y="274320"/>
            <a:ext cx="6583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Conclusion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896112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Summary and Future Scope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229600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5544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Summary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965960"/>
            <a:ext cx="8046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OLAP turns warehouse data into multidimensional views</a:t>
            </a:r>
            <a:endParaRPr lang="en-US" sz="20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Five key operations: roll-up, drill-down, slice, dice, pivot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297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Future Scope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70916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In-memory and cloud OLAP</a:t>
            </a:r>
            <a:endParaRPr lang="en-US" sz="20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AI-assisted insights and natural-language querying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8C8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21945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5"/>
                </a:solidFill>
              </a:rPr>
              <a:t>Topic 5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292608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3800" b="1" dirty="0">
                <a:solidFill>
                  <a:schemeClr val="accent1"/>
                </a:solidFill>
              </a:rPr>
              <a:t>Dimensional Data Modeling</a:t>
            </a:r>
            <a:endParaRPr lang="en-US" sz="3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1097280" y="274320"/>
            <a:ext cx="6583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Introduction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896112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Dimensional Data Modeling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229600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554480"/>
            <a:ext cx="80467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Dimensional modeling organizes warehouse data for easy, fast analysis (Kimball approach)</a:t>
            </a:r>
            <a:endParaRPr lang="en-US" sz="2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Fact tables hold numeric measures; dimension tables hold descriptive context</a:t>
            </a:r>
            <a:endParaRPr lang="en-US" sz="2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Importance: simple for business users and efficient for queries</a:t>
            </a:r>
            <a:endParaRPr lang="en-US" sz="2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Two main designs: star schema and snowflake schema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8C8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1097280" y="274320"/>
            <a:ext cx="6583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Core Concepts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896112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Dimensional Data Modeling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229600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554480"/>
            <a:ext cx="37490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Fact table: measures + foreign keys (e.g., amount, quantity)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Dimension table: descriptive attributes (customer, product, date)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Grain: what one fact row represents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Star: denormalized dimensions around one fact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943600" y="3657600"/>
            <a:ext cx="1371600" cy="822960"/>
          </a:xfrm>
          <a:prstGeom prst="roundRect">
            <a:avLst>
              <a:gd name="adj" fmla="val 8889"/>
            </a:avLst>
          </a:prstGeom>
          <a:solidFill>
            <a:schemeClr val="accent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0" y="3657600"/>
            <a:ext cx="137160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Fact_Sales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0" y="2103120"/>
            <a:ext cx="1371600" cy="73152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0" y="2103120"/>
            <a:ext cx="13716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Dim_Date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0" y="5212080"/>
            <a:ext cx="1371600" cy="73152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43600" y="5212080"/>
            <a:ext cx="13716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Dim_Product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480560" y="3657600"/>
            <a:ext cx="1188720" cy="822960"/>
          </a:xfrm>
          <a:prstGeom prst="roundRect">
            <a:avLst>
              <a:gd name="adj" fmla="val 888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480560" y="3657600"/>
            <a:ext cx="118872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Dim_Customer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589520" y="3657600"/>
            <a:ext cx="1188720" cy="822960"/>
          </a:xfrm>
          <a:prstGeom prst="roundRect">
            <a:avLst>
              <a:gd name="adj" fmla="val 888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589520" y="3657600"/>
            <a:ext cx="118872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Dim_Store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629400" y="2834640"/>
            <a:ext cx="0" cy="82296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 flipV="1">
            <a:off x="6629400" y="4480560"/>
            <a:ext cx="0" cy="73152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669280" y="4069080"/>
            <a:ext cx="274320" cy="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 flipH="1">
            <a:off x="7315200" y="4069080"/>
            <a:ext cx="274320" cy="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8C8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1097280" y="274320"/>
            <a:ext cx="6583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Process / Architecture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896112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Schema Design Process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229600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459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600200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accent1"/>
                </a:solidFill>
              </a:rPr>
              <a:t>Choose business process</a:t>
            </a:r>
            <a:endParaRPr lang="en-US" sz="2100" dirty="0"/>
          </a:p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e.g., retail sales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914400" y="2240280"/>
            <a:ext cx="0" cy="292608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40080" y="25603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560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2514600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accent1"/>
                </a:solidFill>
              </a:rPr>
              <a:t>Declare the grain</a:t>
            </a:r>
            <a:endParaRPr lang="en-US" sz="2100" dirty="0"/>
          </a:p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One row per product per sale line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914400" y="3154680"/>
            <a:ext cx="0" cy="292608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40080" y="34747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3474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463040" y="3429000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accent1"/>
                </a:solidFill>
              </a:rPr>
              <a:t>Identify dimensions</a:t>
            </a:r>
            <a:endParaRPr lang="en-US" sz="2100" dirty="0"/>
          </a:p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Date, product, customer, store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914400" y="4069080"/>
            <a:ext cx="0" cy="292608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40080" y="43891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" y="4389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1463040" y="4343400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accent1"/>
                </a:solidFill>
              </a:rPr>
              <a:t>Identify facts</a:t>
            </a:r>
            <a:endParaRPr lang="en-US" sz="2100" dirty="0"/>
          </a:p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Quantity, sales amount, discount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914400" y="4983480"/>
            <a:ext cx="0" cy="292608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40080" y="53035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0080" y="5303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5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1463040" y="5257800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accent1"/>
                </a:solidFill>
              </a:rPr>
              <a:t>Build and validate</a:t>
            </a:r>
            <a:endParaRPr lang="en-US" sz="2100" dirty="0"/>
          </a:p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Create tables, load sample data, test queries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8C8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1097280" y="274320"/>
            <a:ext cx="6583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Real-World Example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896112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Real-World Example: Retail Sales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229600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554480"/>
            <a:ext cx="80467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Fact_Sales(date_key, product_key, store_key, customer_key, qty, amount)</a:t>
            </a:r>
            <a:endParaRPr lang="en-US" sz="2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Dim_Product(product_key, name, brand, category)</a:t>
            </a:r>
            <a:endParaRPr lang="en-US" sz="2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Dim_Store(store_key, city, state, region)</a:t>
            </a:r>
            <a:endParaRPr lang="en-US" sz="2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Query: total amount by category and region per quarter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8C8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1097280" y="274320"/>
            <a:ext cx="6583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Tool / Demo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896112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Star vs Snowflake Schema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229600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</a:ln>
        </p:spPr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2880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Feature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Star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Snowflake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Dimensions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Denormalized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Normalized into sub-tables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Joins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Fewer, faster queries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More joins, slower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Storage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More redundancy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Less redundancy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Complexity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Simple to understand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More complex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Best for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Reporting speed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Saving space, hierarchies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8C8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1097280" y="274320"/>
            <a:ext cx="6583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Conclusion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896112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Summary and Future Scope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229600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5544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Summary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965960"/>
            <a:ext cx="8046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Facts = measures, dimensions = context</a:t>
            </a:r>
            <a:endParaRPr lang="en-US" sz="20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Star is simpler and faster; snowflake saves space</a:t>
            </a:r>
            <a:endParaRPr lang="en-US" sz="20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A clear grain is the key design decision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297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Future Scope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70916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Data vault and lakehouse modeling</a:t>
            </a:r>
            <a:endParaRPr lang="en-US" sz="20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Automated schema design tools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8C8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21945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5"/>
                </a:solidFill>
              </a:rPr>
              <a:t>Topic 6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292608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3800" b="1" dirty="0">
                <a:solidFill>
                  <a:schemeClr val="accent1"/>
                </a:solidFill>
              </a:rPr>
              <a:t>Query Processing &amp; BI Tools</a:t>
            </a:r>
            <a:endParaRPr lang="en-US" sz="38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1097280" y="274320"/>
            <a:ext cx="6583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Introduction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896112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Query Processing &amp; BI Tools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229600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554480"/>
            <a:ext cx="80467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Query processing: turning a user's SQL into an efficient plan and returning the result</a:t>
            </a:r>
            <a:endParaRPr lang="en-US" sz="2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Business Intelligence (BI): tools and practices that turn data into reports and insights</a:t>
            </a:r>
            <a:endParaRPr lang="en-US" sz="2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Importance: warehouse queries are heavy, so efficiency matters</a:t>
            </a:r>
            <a:endParaRPr lang="en-US" sz="2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BI tools make results accessible to non-technical users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8C8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1097280" y="274320"/>
            <a:ext cx="6583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Core Concepts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896112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Query Processing &amp; BI Tools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229600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554480"/>
            <a:ext cx="37490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Optimization chooses the cheapest execution plan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Uses statistics, indexes and join ordering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Warehouse tricks: partitioning, bitmap indexes, materialized views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572000" y="1645920"/>
            <a:ext cx="4206240" cy="585216"/>
          </a:xfrm>
          <a:prstGeom prst="roundRect">
            <a:avLst>
              <a:gd name="adj" fmla="val 125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0" y="1645920"/>
            <a:ext cx="4206240" cy="5852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1. Parsing and validation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675120" y="2258568"/>
            <a:ext cx="0" cy="310896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572000" y="2596896"/>
            <a:ext cx="4206240" cy="585216"/>
          </a:xfrm>
          <a:prstGeom prst="roundRect">
            <a:avLst>
              <a:gd name="adj" fmla="val 12500"/>
            </a:avLst>
          </a:prstGeom>
          <a:solidFill>
            <a:schemeClr val="accent5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0" y="2596896"/>
            <a:ext cx="4206240" cy="5852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2. Translation (relational algebra)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675120" y="3209544"/>
            <a:ext cx="0" cy="310896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572000" y="3547872"/>
            <a:ext cx="4206240" cy="585216"/>
          </a:xfrm>
          <a:prstGeom prst="roundRect">
            <a:avLst>
              <a:gd name="adj" fmla="val 125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0" y="3547872"/>
            <a:ext cx="4206240" cy="5852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3. Query optimization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675120" y="4160520"/>
            <a:ext cx="0" cy="310896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572000" y="4498848"/>
            <a:ext cx="4206240" cy="585216"/>
          </a:xfrm>
          <a:prstGeom prst="roundRect">
            <a:avLst>
              <a:gd name="adj" fmla="val 12500"/>
            </a:avLst>
          </a:prstGeom>
          <a:solidFill>
            <a:schemeClr val="accent5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0" y="4498848"/>
            <a:ext cx="4206240" cy="5852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4. Execution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675120" y="5111496"/>
            <a:ext cx="0" cy="310896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572000" y="5449824"/>
            <a:ext cx="4206240" cy="585216"/>
          </a:xfrm>
          <a:prstGeom prst="roundRect">
            <a:avLst>
              <a:gd name="adj" fmla="val 125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72000" y="5449824"/>
            <a:ext cx="4206240" cy="5852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5. Result returned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8C8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1097280" y="274320"/>
            <a:ext cx="6583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Process / Architecture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896112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Query Optimization Step by Step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229600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459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600200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accent1"/>
                </a:solidFill>
              </a:rPr>
              <a:t>Parse the SQL</a:t>
            </a:r>
            <a:endParaRPr lang="en-US" sz="2100" dirty="0"/>
          </a:p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Check syntax, tables and columns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914400" y="2240280"/>
            <a:ext cx="0" cy="292608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40080" y="25603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560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2514600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accent1"/>
                </a:solidFill>
              </a:rPr>
              <a:t>Generate plans</a:t>
            </a:r>
            <a:endParaRPr lang="en-US" sz="2100" dirty="0"/>
          </a:p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Alternative join orders and access paths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914400" y="3154680"/>
            <a:ext cx="0" cy="292608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40080" y="34747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3474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463040" y="3429000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accent1"/>
                </a:solidFill>
              </a:rPr>
              <a:t>Estimate cost</a:t>
            </a:r>
            <a:endParaRPr lang="en-US" sz="2100" dirty="0"/>
          </a:p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Use table statistics and index information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914400" y="4069080"/>
            <a:ext cx="0" cy="292608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40080" y="43891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" y="4389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1463040" y="4343400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accent1"/>
                </a:solidFill>
              </a:rPr>
              <a:t>Choose best plan</a:t>
            </a:r>
            <a:endParaRPr lang="en-US" sz="2100" dirty="0"/>
          </a:p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Lowest estimated I/O and CPU cost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914400" y="4983480"/>
            <a:ext cx="0" cy="292608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40080" y="53035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0080" y="5303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5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1463040" y="5257800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accent1"/>
                </a:solidFill>
              </a:rPr>
              <a:t>Execute and return</a:t>
            </a:r>
            <a:endParaRPr lang="en-US" sz="2100" dirty="0"/>
          </a:p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Run plan; send rows to the user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8C8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1097280" y="274320"/>
            <a:ext cx="6583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Real-World Example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896112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Reporting and Visualization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229600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554480"/>
            <a:ext cx="37947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Reports: scheduled, ad hoc and drill-through</a:t>
            </a:r>
            <a:endParaRPr lang="en-US" sz="18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Visuals: bar, line, pie, map, heat map</a:t>
            </a:r>
            <a:endParaRPr lang="en-US" sz="18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Dashboards show KPIs such as revenue, margin and growth</a:t>
            </a:r>
            <a:endParaRPr lang="en-US" sz="18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Example: a retail dashboard of sales by region with drill-down</a:t>
            </a:r>
            <a:endParaRPr lang="en-US" sz="1800" dirty="0"/>
          </a:p>
        </p:txBody>
      </p:sp>
      <p:pic>
        <p:nvPicPr>
          <p:cNvPr id="6" name="tool screenshot" descr="bi_das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26280" y="1645920"/>
            <a:ext cx="4206240" cy="299008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26280" y="47091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Illustration: dashboard in the style of Metabase / Superset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8C8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1097280" y="274320"/>
            <a:ext cx="6583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Tool / Demo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896112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Open-Source BI Tools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229600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</a:ln>
        </p:spPr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28800"/>
          <a:ext cx="82296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Tool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Strength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Metabase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Easy dashboards and questions without SQL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Apache Superset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Rich charts, SQL Lab, scalable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Pentaho / Jaspersoft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Enterprise-style reporting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BIRT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Embedded and printable reports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KNIME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Visual analytics workflows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A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8C8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1097280" y="274320"/>
            <a:ext cx="6583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Conclusion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896112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Summary and Future Scope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229600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5544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Summary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965960"/>
            <a:ext cx="8046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Optimizers pick efficient plans for large warehouse queries</a:t>
            </a:r>
            <a:endParaRPr lang="en-US" sz="20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BI tools deliver reports and visuals to decision makers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297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Future Scope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70916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AI-driven query optimization</a:t>
            </a:r>
            <a:endParaRPr lang="en-US" sz="20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Self-service and augmented analytics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8C8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21945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5"/>
                </a:solidFill>
              </a:rPr>
              <a:t>Topic 7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292608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3800" b="1" dirty="0">
                <a:solidFill>
                  <a:schemeClr val="accent1"/>
                </a:solidFill>
              </a:rPr>
              <a:t>OLAP Application using KNIME</a:t>
            </a:r>
            <a:endParaRPr lang="en-US" sz="38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1097280" y="274320"/>
            <a:ext cx="6583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Introduction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896112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OLAP Application using KNIME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229600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554480"/>
            <a:ext cx="80467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KNIME: open-source, visual platform for data analytics (low-code)</a:t>
            </a:r>
            <a:endParaRPr lang="en-US" sz="2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Build workflows by connecting nodes instead of writing code</a:t>
            </a:r>
            <a:endParaRPr lang="en-US" sz="2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Importance: easy to prototype OLAP-style analysis and reports</a:t>
            </a:r>
            <a:endParaRPr lang="en-US" sz="2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Reads CSV, Excel and databases; produces charts and reports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8C8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1097280" y="274320"/>
            <a:ext cx="6583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Core Concepts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896112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OLAP Application using KNIME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229600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554480"/>
            <a:ext cx="37490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Node: a single task (read, filter, group)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Connection: links one node's output port to the next input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Workflow: a chain of connected nodes</a:t>
            </a:r>
            <a:endParaRPr lang="en-US" sz="17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Status lights: red, yellow, green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572000" y="1645920"/>
            <a:ext cx="4206240" cy="822960"/>
          </a:xfrm>
          <a:prstGeom prst="roundRect">
            <a:avLst>
              <a:gd name="adj" fmla="val 888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0" y="1645920"/>
            <a:ext cx="420624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File / Excel Reader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675120" y="2496312"/>
            <a:ext cx="0" cy="310896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572000" y="2834640"/>
            <a:ext cx="4206240" cy="822960"/>
          </a:xfrm>
          <a:prstGeom prst="roundRect">
            <a:avLst>
              <a:gd name="adj" fmla="val 8889"/>
            </a:avLst>
          </a:prstGeom>
          <a:solidFill>
            <a:schemeClr val="accent5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0" y="2834640"/>
            <a:ext cx="420624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Row Filter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675120" y="3685032"/>
            <a:ext cx="0" cy="310896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572000" y="4023360"/>
            <a:ext cx="4206240" cy="822960"/>
          </a:xfrm>
          <a:prstGeom prst="roundRect">
            <a:avLst>
              <a:gd name="adj" fmla="val 888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0" y="4023360"/>
            <a:ext cx="420624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GroupBy / Pivoting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675120" y="4873752"/>
            <a:ext cx="0" cy="310896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572000" y="5212080"/>
            <a:ext cx="4206240" cy="822960"/>
          </a:xfrm>
          <a:prstGeom prst="roundRect">
            <a:avLst>
              <a:gd name="adj" fmla="val 8889"/>
            </a:avLst>
          </a:prstGeom>
          <a:solidFill>
            <a:schemeClr val="accent5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0" y="5212080"/>
            <a:ext cx="420624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Bar Chart / Table View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8C8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1097280" y="274320"/>
            <a:ext cx="6583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Process / Architecture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896112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Performing OLAP Operations in KNIME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229600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459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600200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accent1"/>
                </a:solidFill>
              </a:rPr>
              <a:t>Roll-up</a:t>
            </a:r>
            <a:endParaRPr lang="en-US" sz="2100" dirty="0"/>
          </a:p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GroupBy node with a higher-level column (e.g., Year)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914400" y="2240280"/>
            <a:ext cx="0" cy="292608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40080" y="25603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560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2514600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accent1"/>
                </a:solidFill>
              </a:rPr>
              <a:t>Drill-down</a:t>
            </a:r>
            <a:endParaRPr lang="en-US" sz="2100" dirty="0"/>
          </a:p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GroupBy on a finer level (e.g., Month)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914400" y="3154680"/>
            <a:ext cx="0" cy="292608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40080" y="34747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3474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463040" y="3429000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accent1"/>
                </a:solidFill>
              </a:rPr>
              <a:t>Slice</a:t>
            </a:r>
            <a:endParaRPr lang="en-US" sz="2100" dirty="0"/>
          </a:p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Row Filter: one dimension value (Region = East)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914400" y="4069080"/>
            <a:ext cx="0" cy="292608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40080" y="43891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" y="4389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1463040" y="4343400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accent1"/>
                </a:solidFill>
              </a:rPr>
              <a:t>Dice</a:t>
            </a:r>
            <a:endParaRPr lang="en-US" sz="2100" dirty="0"/>
          </a:p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Row Filter / Rule Engine on several conditions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914400" y="4983480"/>
            <a:ext cx="0" cy="292608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40080" y="53035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0080" y="5303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5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1463040" y="5257800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accent1"/>
                </a:solidFill>
              </a:rPr>
              <a:t>Pivot</a:t>
            </a:r>
            <a:endParaRPr lang="en-US" sz="2100" dirty="0"/>
          </a:p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Pivoting node to rotate rows and columns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8C8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1097280" y="274320"/>
            <a:ext cx="6583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Real-World Example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896112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Sample Application: Sales Analysis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229600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554480"/>
            <a:ext cx="37947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Data: Superstore-style sales CSV (Date, Product, Region, Sales)</a:t>
            </a:r>
            <a:endParaRPr lang="en-US" sz="18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Read file, then parse dates and extract Year/Quarter</a:t>
            </a:r>
            <a:endParaRPr lang="en-US" sz="18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Roll-up: total sales by Region and Year</a:t>
            </a:r>
            <a:endParaRPr lang="en-US" sz="18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Slice East region, pivot Category by Year, plot a bar chart</a:t>
            </a:r>
            <a:endParaRPr lang="en-US" sz="1800" dirty="0"/>
          </a:p>
        </p:txBody>
      </p:sp>
      <p:pic>
        <p:nvPicPr>
          <p:cNvPr id="6" name="tool screenshot" descr="knime_w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26280" y="1645920"/>
            <a:ext cx="4206240" cy="299008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26280" y="47091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Illustration: KNIME workflow for OLAP operations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8C8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1097280" y="274320"/>
            <a:ext cx="6583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Tool / Demo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896112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Report Generation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229600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554480"/>
            <a:ext cx="37947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Visualization nodes: Bar Chart, Line Plot, Pie Chart</a:t>
            </a:r>
            <a:endParaRPr lang="en-US" sz="18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Combine views into dashboards with components</a:t>
            </a:r>
            <a:endParaRPr lang="en-US" sz="18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Export results via Excel Writer or CSV Writer</a:t>
            </a:r>
            <a:endParaRPr lang="en-US" sz="18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KNIME reporting features can assemble views into PDF/HTML reports</a:t>
            </a:r>
            <a:endParaRPr lang="en-US" sz="1800" dirty="0"/>
          </a:p>
        </p:txBody>
      </p:sp>
      <p:pic>
        <p:nvPicPr>
          <p:cNvPr id="6" name="tool screenshot" descr="repo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26280" y="1645920"/>
            <a:ext cx="4206240" cy="299008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26280" y="47091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Illustration: report exported from KNIME views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8C8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1097280" y="274320"/>
            <a:ext cx="6583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Conclusion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896112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Summary and Future Scope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229600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5544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Summary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965960"/>
            <a:ext cx="8046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KNIME makes OLAP operations visual and repeatable</a:t>
            </a:r>
            <a:endParaRPr lang="en-US" sz="20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Nodes + connections = workflow from data to report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297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Future Scope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70916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Scheduling workflows on KNIME Server / Hub</a:t>
            </a:r>
            <a:endParaRPr lang="en-US" sz="20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Adding ML models and AI nodes to reports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8C8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ATS">
  <a:themeElements>
    <a:clrScheme name="SIMATS">
      <a:dk1>
        <a:srgbClr val="111111"/>
      </a:dk1>
      <a:lt1>
        <a:srgbClr val="FFFFFF"/>
      </a:lt1>
      <a:dk2>
        <a:srgbClr val="1F3A6E"/>
      </a:dk2>
      <a:lt2>
        <a:srgbClr val="EAF0FA"/>
      </a:lt2>
      <a:accent1>
        <a:srgbClr val="1F3A6E"/>
      </a:accent1>
      <a:accent2>
        <a:srgbClr val="F2A900"/>
      </a:accent2>
      <a:accent3>
        <a:srgbClr val="2E8B57"/>
      </a:accent3>
      <a:accent4>
        <a:srgbClr val="C0392B"/>
      </a:accent4>
      <a:accent5>
        <a:srgbClr val="5B7DB1"/>
      </a:accent5>
      <a:accent6>
        <a:srgbClr val="7F8C8D"/>
      </a:accent6>
      <a:hlink>
        <a:srgbClr val="1F3A6E"/>
      </a:hlink>
      <a:folHlink>
        <a:srgbClr val="7F8C8D"/>
      </a:folHlink>
    </a:clrScheme>
    <a:fontScheme name="SIMATS">
      <a:majorFont>
        <a:latin typeface="Times New Roma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imes New Roman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50</Slides>
  <Notes>50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2026-10-18T13:32:49Z</dcterms:created>
  <dcterms:modified xsi:type="dcterms:W3CDTF">2026-10-18T13:32:49Z</dcterms:modified>
</cp:coreProperties>
</file>